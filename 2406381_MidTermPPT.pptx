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71" r:id="rId3"/>
    <p:sldId id="260" r:id="rId4"/>
    <p:sldId id="272" r:id="rId5"/>
    <p:sldId id="273" r:id="rId6"/>
    <p:sldId id="274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91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8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182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3DC1F-17BD-92A2-BEF8-625DA4DE0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03743-B443-EE82-23C3-12E53687D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ACEFEB-CECF-E2BE-4714-44A3DA169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51FF7-96E6-31CB-3CCC-44CE746769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055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16A1D-E35B-6B01-12A3-DA75B4B7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C11321-CEDF-B722-8BF4-6D2BC2EBB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3E5757-4BA2-B825-A733-DB2963250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E9D6E-36CD-F1CD-FD72-7858253D36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953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microsoft.com/office/2007/relationships/hdphoto" Target="../media/hdphoto4.wdp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64592" y="365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4573" y="464235"/>
            <a:ext cx="8145546" cy="358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IN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Multimodal </a:t>
            </a:r>
            <a:r>
              <a:rPr lang="en-IN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Engagement &amp; Behavioural 		Analytics System </a:t>
            </a:r>
            <a:endParaRPr lang="en-US" sz="4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81199" y="104631"/>
            <a:ext cx="1498209" cy="608073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21059" y="0"/>
            <a:ext cx="1498209" cy="81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800" dirty="0"/>
              <a:t>CSM967</a:t>
            </a:r>
          </a:p>
          <a:p>
            <a:pPr algn="ctr"/>
            <a:r>
              <a:rPr lang="en-IN" sz="1100" dirty="0"/>
              <a:t>MAJOR PROJECT III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33872" y="1524937"/>
            <a:ext cx="3145536" cy="1146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31920" y="22402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50992" y="22402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70064" y="22402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27157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50992" y="27157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066266"/>
            <a:ext cx="9144000" cy="1077233"/>
          </a:xfrm>
          <a:prstGeom prst="rect">
            <a:avLst/>
          </a:prstGeom>
          <a:solidFill>
            <a:srgbClr val="014F6D"/>
          </a:solidFill>
          <a:ln w="12700">
            <a:solidFill>
              <a:srgbClr val="014F6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5833872" y="661883"/>
            <a:ext cx="2532185" cy="81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63175" y="4111986"/>
            <a:ext cx="2975317" cy="97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Deepanshi Gupta</a:t>
            </a:r>
          </a:p>
          <a:p>
            <a:pPr marL="0" indent="0" algn="r">
              <a:buNone/>
            </a:pPr>
            <a:r>
              <a:rPr lang="en-US" sz="2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2406381</a:t>
            </a:r>
          </a:p>
          <a:p>
            <a:pPr marL="0" indent="0" algn="r">
              <a:buNone/>
            </a:pPr>
            <a:r>
              <a:rPr lang="en-US" sz="2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MTech-Int(CS)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F7495B-940D-43EA-2620-75C96CC0BA29}"/>
              </a:ext>
            </a:extLst>
          </p:cNvPr>
          <p:cNvSpPr txBox="1"/>
          <p:nvPr/>
        </p:nvSpPr>
        <p:spPr>
          <a:xfrm>
            <a:off x="105508" y="4212485"/>
            <a:ext cx="2370406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</a:p>
          <a:p>
            <a:r>
              <a:rPr lang="en-IN" sz="2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Preetvanti Ma’am</a:t>
            </a:r>
            <a:r>
              <a:rPr lang="en-US" sz="2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CDD4B-D62B-1DA7-D11E-A77639A1E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CD0FA2-16F8-9243-902C-5C686B30060F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5130F4-2B61-2E4B-6A7C-C05D475E937B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Motivation and Research Gap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35124D-5C55-0465-498F-89AC2B600A3A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033BCFC-309C-F5F9-3461-918D75F98AC5}"/>
              </a:ext>
            </a:extLst>
          </p:cNvPr>
          <p:cNvSpPr/>
          <p:nvPr/>
        </p:nvSpPr>
        <p:spPr>
          <a:xfrm>
            <a:off x="509250" y="842597"/>
            <a:ext cx="8462420" cy="1261498"/>
          </a:xfrm>
          <a:prstGeom prst="rect">
            <a:avLst/>
          </a:prstGeom>
          <a:solidFill>
            <a:srgbClr val="F0F6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E9041AD-286A-43B5-6DB2-30EA811A1C25}"/>
              </a:ext>
            </a:extLst>
          </p:cNvPr>
          <p:cNvSpPr/>
          <p:nvPr/>
        </p:nvSpPr>
        <p:spPr>
          <a:xfrm>
            <a:off x="320040" y="132588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0CDFA86-E06E-4DA0-42F9-F464F0F31823}"/>
              </a:ext>
            </a:extLst>
          </p:cNvPr>
          <p:cNvSpPr/>
          <p:nvPr/>
        </p:nvSpPr>
        <p:spPr>
          <a:xfrm>
            <a:off x="666388" y="898108"/>
            <a:ext cx="8106869" cy="103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b="1" dirty="0"/>
              <a:t>Problem</a:t>
            </a:r>
          </a:p>
          <a:p>
            <a:r>
              <a:rPr lang="en-IN" sz="1400" dirty="0"/>
              <a:t>Teachers cannot continuously monitor every student's attention and emotional state. </a:t>
            </a:r>
          </a:p>
          <a:p>
            <a:r>
              <a:rPr lang="en-IN" sz="1400" dirty="0"/>
              <a:t>Students may appear attentive while actually being confused, stressed, or disengaged. </a:t>
            </a:r>
          </a:p>
          <a:p>
            <a:r>
              <a:rPr lang="en-IN" sz="1400" dirty="0"/>
              <a:t>Learning difficulties are often identified only after exams or poor performance. </a:t>
            </a:r>
          </a:p>
          <a:p>
            <a:r>
              <a:rPr lang="en-IN" sz="1400" dirty="0"/>
              <a:t>Human observation becomes less effective in large, online, or hybrid classrooms.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4A9B90F-BF38-8B62-E9FF-6B1A21092AE8}"/>
              </a:ext>
            </a:extLst>
          </p:cNvPr>
          <p:cNvSpPr/>
          <p:nvPr/>
        </p:nvSpPr>
        <p:spPr>
          <a:xfrm>
            <a:off x="1069848" y="1472184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89D37C0-FFE2-487D-57CA-66BF6C8B7B42}"/>
              </a:ext>
            </a:extLst>
          </p:cNvPr>
          <p:cNvSpPr/>
          <p:nvPr/>
        </p:nvSpPr>
        <p:spPr>
          <a:xfrm>
            <a:off x="4709160" y="132588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8D210B9-156A-FAC3-1DCA-D14F0D3BBDB7}"/>
              </a:ext>
            </a:extLst>
          </p:cNvPr>
          <p:cNvSpPr/>
          <p:nvPr/>
        </p:nvSpPr>
        <p:spPr>
          <a:xfrm>
            <a:off x="4056418" y="969564"/>
            <a:ext cx="4890634" cy="1859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36579B0-7098-9FE1-27BA-2E9E4156ECB7}"/>
              </a:ext>
            </a:extLst>
          </p:cNvPr>
          <p:cNvSpPr/>
          <p:nvPr/>
        </p:nvSpPr>
        <p:spPr>
          <a:xfrm>
            <a:off x="5458968" y="1472184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AAE4634-31DB-3BD7-A215-692B3F15F2F8}"/>
              </a:ext>
            </a:extLst>
          </p:cNvPr>
          <p:cNvSpPr/>
          <p:nvPr/>
        </p:nvSpPr>
        <p:spPr>
          <a:xfrm>
            <a:off x="320040" y="338328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7A93327-7FD2-2F88-C46F-50F1C1D78FC4}"/>
              </a:ext>
            </a:extLst>
          </p:cNvPr>
          <p:cNvSpPr/>
          <p:nvPr/>
        </p:nvSpPr>
        <p:spPr>
          <a:xfrm>
            <a:off x="1051560" y="29077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B5EDAE9-DAD5-6033-D5BF-2BD546E251C6}"/>
              </a:ext>
            </a:extLst>
          </p:cNvPr>
          <p:cNvSpPr/>
          <p:nvPr/>
        </p:nvSpPr>
        <p:spPr>
          <a:xfrm>
            <a:off x="1069848" y="3529584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7F1F7ED-81F9-8EDC-32F1-70CE9A705E7B}"/>
              </a:ext>
            </a:extLst>
          </p:cNvPr>
          <p:cNvSpPr/>
          <p:nvPr/>
        </p:nvSpPr>
        <p:spPr>
          <a:xfrm>
            <a:off x="4709160" y="338328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D7D3A3A-B57D-9168-AAB1-8C2ED6CC3755}"/>
              </a:ext>
            </a:extLst>
          </p:cNvPr>
          <p:cNvSpPr/>
          <p:nvPr/>
        </p:nvSpPr>
        <p:spPr>
          <a:xfrm>
            <a:off x="5440680" y="29077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0D92D13-CE36-C3D2-EF22-025577178432}"/>
              </a:ext>
            </a:extLst>
          </p:cNvPr>
          <p:cNvSpPr/>
          <p:nvPr/>
        </p:nvSpPr>
        <p:spPr>
          <a:xfrm>
            <a:off x="5458968" y="3529584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6" name="Shape 8">
            <a:extLst>
              <a:ext uri="{FF2B5EF4-FFF2-40B4-BE49-F238E27FC236}">
                <a16:creationId xmlns:a16="http://schemas.microsoft.com/office/drawing/2014/main" id="{B5D8664B-006B-CB7F-D718-1A6A4C2DC356}"/>
              </a:ext>
            </a:extLst>
          </p:cNvPr>
          <p:cNvSpPr/>
          <p:nvPr/>
        </p:nvSpPr>
        <p:spPr>
          <a:xfrm>
            <a:off x="484632" y="2226878"/>
            <a:ext cx="8462420" cy="1227919"/>
          </a:xfrm>
          <a:prstGeom prst="rect">
            <a:avLst/>
          </a:prstGeom>
          <a:solidFill>
            <a:srgbClr val="F0F6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r>
              <a:rPr lang="en-IN" sz="1400" b="1" dirty="0"/>
              <a:t>Limitations of Existing Systems</a:t>
            </a:r>
          </a:p>
          <a:p>
            <a:r>
              <a:rPr lang="en-IN" sz="1400" dirty="0"/>
              <a:t>Most systems analyse only a single behaviour (emotion, gaze, or head pose). </a:t>
            </a:r>
          </a:p>
          <a:p>
            <a:r>
              <a:rPr lang="en-IN" sz="1400" dirty="0"/>
              <a:t>Individual parameter can be misleading and result in inaccurate predictions. </a:t>
            </a:r>
          </a:p>
          <a:p>
            <a:r>
              <a:rPr lang="en-IN" sz="1400" dirty="0"/>
              <a:t>They do not provide a complete understanding of student engagement. </a:t>
            </a:r>
          </a:p>
          <a:p>
            <a:r>
              <a:rPr lang="en-IN" sz="1400" dirty="0"/>
              <a:t>Limited support for real-time intervention and teacher decision-making.</a:t>
            </a:r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A363ABE1-2773-9FE0-7350-84B010D3C2C2}"/>
              </a:ext>
            </a:extLst>
          </p:cNvPr>
          <p:cNvSpPr/>
          <p:nvPr/>
        </p:nvSpPr>
        <p:spPr>
          <a:xfrm>
            <a:off x="496741" y="3577580"/>
            <a:ext cx="8474930" cy="1472722"/>
          </a:xfrm>
          <a:prstGeom prst="rect">
            <a:avLst/>
          </a:prstGeom>
          <a:solidFill>
            <a:srgbClr val="F0F6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r>
              <a:rPr lang="en-IN" sz="1400" b="1" dirty="0"/>
              <a:t>Our Solution</a:t>
            </a:r>
          </a:p>
          <a:p>
            <a:r>
              <a:rPr lang="en-IN" sz="1400" dirty="0"/>
              <a:t>A real-time multi-modal Student Engagement &amp; Behavioural Analytics System </a:t>
            </a:r>
          </a:p>
          <a:p>
            <a:r>
              <a:rPr lang="en-IN" sz="1400" dirty="0"/>
              <a:t>Simultaneously analyses Facial emotions ,Head pose ,Eye movement &amp; blink rate ,Speech transcription &amp; emotion </a:t>
            </a:r>
          </a:p>
          <a:p>
            <a:r>
              <a:rPr lang="en-IN" sz="1400" dirty="0"/>
              <a:t>Fuses all five signals using a custom weighted fusion module a</a:t>
            </a:r>
          </a:p>
          <a:p>
            <a:r>
              <a:rPr lang="en-IN" sz="1400" dirty="0"/>
              <a:t>Generates an Engagement Score (0–100) and Distress Flag. </a:t>
            </a:r>
          </a:p>
          <a:p>
            <a:r>
              <a:rPr lang="en-IN" sz="1400" dirty="0"/>
              <a:t>Then give a </a:t>
            </a:r>
            <a:r>
              <a:rPr lang="en-US" sz="1400" dirty="0"/>
              <a:t>real-time alerts and adaptive suggestions for the </a:t>
            </a:r>
            <a:r>
              <a:rPr lang="en-IN" sz="1400" dirty="0"/>
              <a:t>User.</a:t>
            </a:r>
          </a:p>
        </p:txBody>
      </p:sp>
    </p:spTree>
    <p:extLst>
      <p:ext uri="{BB962C8B-B14F-4D97-AF65-F5344CB8AC3E}">
        <p14:creationId xmlns:p14="http://schemas.microsoft.com/office/powerpoint/2010/main" val="1995232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98472"/>
            <a:ext cx="9043416" cy="491315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-724486" y="-50291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003452" y="98474"/>
            <a:ext cx="5774788" cy="587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Architecture System</a:t>
            </a:r>
            <a:endParaRPr lang="en-US" sz="2000" b="1" dirty="0"/>
          </a:p>
        </p:txBody>
      </p:sp>
      <p:sp>
        <p:nvSpPr>
          <p:cNvPr id="30" name="Text 28"/>
          <p:cNvSpPr/>
          <p:nvPr/>
        </p:nvSpPr>
        <p:spPr>
          <a:xfrm>
            <a:off x="629588" y="3687116"/>
            <a:ext cx="38678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29588" y="4116884"/>
            <a:ext cx="38678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0" y="3733832"/>
            <a:ext cx="3718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638348" y="4126029"/>
            <a:ext cx="37186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F460207-6C74-5430-2161-2380643B3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948562"/>
              </p:ext>
            </p:extLst>
          </p:nvPr>
        </p:nvGraphicFramePr>
        <p:xfrm>
          <a:off x="2555240" y="3589994"/>
          <a:ext cx="2830566" cy="1283351"/>
        </p:xfrm>
        <a:graphic>
          <a:graphicData uri="http://schemas.openxmlformats.org/drawingml/2006/table">
            <a:tbl>
              <a:tblPr/>
              <a:tblGrid>
                <a:gridCol w="788728">
                  <a:extLst>
                    <a:ext uri="{9D8B030D-6E8A-4147-A177-3AD203B41FA5}">
                      <a16:colId xmlns:a16="http://schemas.microsoft.com/office/drawing/2014/main" val="569008110"/>
                    </a:ext>
                  </a:extLst>
                </a:gridCol>
                <a:gridCol w="2041838">
                  <a:extLst>
                    <a:ext uri="{9D8B030D-6E8A-4147-A177-3AD203B41FA5}">
                      <a16:colId xmlns:a16="http://schemas.microsoft.com/office/drawing/2014/main" val="1597104325"/>
                    </a:ext>
                  </a:extLst>
                </a:gridCol>
              </a:tblGrid>
              <a:tr h="19870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019515"/>
                  </a:ext>
                </a:extLst>
              </a:tr>
              <a:tr h="30799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873965"/>
                  </a:ext>
                </a:extLst>
              </a:tr>
              <a:tr h="19870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780766"/>
                  </a:ext>
                </a:extLst>
              </a:tr>
              <a:tr h="19870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679749"/>
                  </a:ext>
                </a:extLst>
              </a:tr>
              <a:tr h="19870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367271"/>
                  </a:ext>
                </a:extLst>
              </a:tr>
            </a:tbl>
          </a:graphicData>
        </a:graphic>
      </p:graphicFrame>
      <p:sp>
        <p:nvSpPr>
          <p:cNvPr id="37" name="Rectangle 5">
            <a:extLst>
              <a:ext uri="{FF2B5EF4-FFF2-40B4-BE49-F238E27FC236}">
                <a16:creationId xmlns:a16="http://schemas.microsoft.com/office/drawing/2014/main" id="{07FB3D48-0903-243B-C70B-B341CC725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0C81579-C51B-87B2-7552-AF2B433EE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" r="1586" b="8784"/>
          <a:stretch>
            <a:fillRect/>
          </a:stretch>
        </p:blipFill>
        <p:spPr>
          <a:xfrm>
            <a:off x="287764" y="617117"/>
            <a:ext cx="4364806" cy="218312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994A0DA-8609-FB50-A466-B02412DA0F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97" b="8736"/>
          <a:stretch>
            <a:fillRect/>
          </a:stretch>
        </p:blipFill>
        <p:spPr>
          <a:xfrm>
            <a:off x="436101" y="2951055"/>
            <a:ext cx="3867854" cy="219244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CE7BF2F-C1C9-2F4D-551F-CFBA95AD18D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352"/>
          <a:stretch>
            <a:fillRect/>
          </a:stretch>
        </p:blipFill>
        <p:spPr>
          <a:xfrm>
            <a:off x="4772015" y="685800"/>
            <a:ext cx="4006225" cy="42622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5549C1-DEBB-5B1E-0F30-32389BA4104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23692" y="533981"/>
            <a:ext cx="4195940" cy="46095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1B0071-25C9-06E6-1027-CDB28AF29A7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216" y="548790"/>
            <a:ext cx="4361972" cy="4594710"/>
          </a:xfrm>
          <a:prstGeom prst="rect">
            <a:avLst/>
          </a:prstGeom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B14697C8-BDF1-4870-6634-7B9C368D6A71}"/>
              </a:ext>
            </a:extLst>
          </p:cNvPr>
          <p:cNvSpPr/>
          <p:nvPr/>
        </p:nvSpPr>
        <p:spPr>
          <a:xfrm rot="10800000" flipV="1">
            <a:off x="76216" y="57475"/>
            <a:ext cx="9043416" cy="491315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of the 2 modules independently for layer-1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4448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60C2D-BF3C-1F47-9ABF-B0159A91A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CE8308CB-7212-B5C6-BD15-382555093A73}"/>
              </a:ext>
            </a:extLst>
          </p:cNvPr>
          <p:cNvSpPr/>
          <p:nvPr/>
        </p:nvSpPr>
        <p:spPr>
          <a:xfrm rot="10800000" flipV="1">
            <a:off x="76216" y="57475"/>
            <a:ext cx="9043416" cy="491315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of the S1: Fusion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C6873E-ABA1-372E-1B8D-FDD0784344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216" y="548791"/>
            <a:ext cx="2883994" cy="45947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3AC436-B378-9DCD-06F5-5FBED9B9F27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60210" y="548791"/>
            <a:ext cx="2784041" cy="45372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52F632-3E52-79D5-B6B4-7C7B65E6C35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697"/>
          <a:stretch>
            <a:fillRect/>
          </a:stretch>
        </p:blipFill>
        <p:spPr>
          <a:xfrm>
            <a:off x="5744251" y="643595"/>
            <a:ext cx="3167632" cy="442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673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F7DE82-CD74-C425-2082-7C5101942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D5751A0-89FC-E13E-006D-CFA31E354062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E12720-6372-E6B5-8D97-3C03A942025E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to do next in the Flow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3C430B9-F5F4-4053-9C37-B6427F852538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EC22CA7-7766-C410-23EA-4F5B7E1DB5D4}"/>
              </a:ext>
            </a:extLst>
          </p:cNvPr>
          <p:cNvSpPr/>
          <p:nvPr/>
        </p:nvSpPr>
        <p:spPr>
          <a:xfrm>
            <a:off x="365760" y="74553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1BACC7D5-6DFE-5529-3CD1-122EB9BA4859}"/>
              </a:ext>
            </a:extLst>
          </p:cNvPr>
          <p:cNvSpPr/>
          <p:nvPr/>
        </p:nvSpPr>
        <p:spPr>
          <a:xfrm>
            <a:off x="4709160" y="4005072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6420EA-8807-0A44-5C80-D204BF485B85}"/>
              </a:ext>
            </a:extLst>
          </p:cNvPr>
          <p:cNvSpPr txBox="1"/>
          <p:nvPr/>
        </p:nvSpPr>
        <p:spPr>
          <a:xfrm>
            <a:off x="147710" y="745534"/>
            <a:ext cx="41148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highlight>
                  <a:srgbClr val="C0C0C0"/>
                </a:highlight>
              </a:rPr>
              <a:t>Completed Work</a:t>
            </a:r>
          </a:p>
          <a:p>
            <a:pPr>
              <a:buNone/>
            </a:pPr>
            <a:r>
              <a:rPr lang="en-IN" sz="1400" b="1" dirty="0"/>
              <a:t>Layer 1 (Vision Pipeline)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Completed </a:t>
            </a:r>
            <a:r>
              <a:rPr lang="en-IN" sz="1400" b="1" dirty="0"/>
              <a:t>Layer 1</a:t>
            </a:r>
            <a:r>
              <a:rPr lang="en-IN" sz="1400" dirty="0"/>
              <a:t> of the multi-modal pipeline.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Successfully integrated the </a:t>
            </a:r>
            <a:r>
              <a:rPr lang="en-IN" sz="1400" b="1" dirty="0"/>
              <a:t>S1 Fusion Engine</a:t>
            </a:r>
            <a:r>
              <a:rPr lang="en-IN" sz="1400" dirty="0"/>
              <a:t>, combining: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Facial Emotion Recognition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Head Pose Estimation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Eye Movement &amp; Blink Detection </a:t>
            </a:r>
          </a:p>
          <a:p>
            <a:pPr>
              <a:buNone/>
            </a:pPr>
            <a:r>
              <a:rPr lang="en-IN" sz="1400" b="1" dirty="0"/>
              <a:t>Voice Processing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Developed and integrated the voice processing pipeline.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Re-tested the voice integration to verify response quality and stability.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Addressed multiple implementation challenges within the audio pipeline. </a:t>
            </a:r>
          </a:p>
          <a:p>
            <a:pPr>
              <a:buNone/>
            </a:pPr>
            <a:r>
              <a:rPr lang="en-IN" sz="1400" b="1" dirty="0"/>
              <a:t>Engagement Scoring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Designed and implemented an initial Fusion </a:t>
            </a:r>
            <a:r>
              <a:rPr lang="en-IN" sz="1400" dirty="0" err="1"/>
              <a:t>ans</a:t>
            </a:r>
            <a:r>
              <a:rPr lang="en-IN" sz="1400" dirty="0"/>
              <a:t> established a scoring framework to quantify overall student engagement. </a:t>
            </a:r>
          </a:p>
          <a:p>
            <a:pPr>
              <a:buNone/>
            </a:pP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67DA47-5948-3118-C9B8-1D4355155E86}"/>
              </a:ext>
            </a:extLst>
          </p:cNvPr>
          <p:cNvSpPr txBox="1"/>
          <p:nvPr/>
        </p:nvSpPr>
        <p:spPr>
          <a:xfrm>
            <a:off x="4353951" y="745534"/>
            <a:ext cx="4579034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highlight>
                  <a:srgbClr val="C0C0C0"/>
                </a:highlight>
              </a:rPr>
              <a:t>Current Challenges Addressed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Speech-to-text transcription from audio extraction from video in speech parsing and transcript generation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Timestamp synchronization with video frames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Voice processing pipeline integration that can handle background noise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Transcript post-processing for semantic validation of transcribed text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Handling compressed video audio formats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buNone/>
            </a:pPr>
            <a:r>
              <a:rPr lang="en-IN" sz="1400" b="1" dirty="0">
                <a:highlight>
                  <a:srgbClr val="C0C0C0"/>
                </a:highlight>
              </a:rPr>
              <a:t>Next Tasks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Integrate the </a:t>
            </a:r>
            <a:r>
              <a:rPr lang="en-IN" sz="1400" b="1" dirty="0"/>
              <a:t>S2 Fusion Engine</a:t>
            </a:r>
            <a:r>
              <a:rPr lang="en-IN" sz="1400" dirty="0"/>
              <a:t> with the complete voice processing layer. Refine and optimize the multi-modal fusion algorithm.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Improve the engagement score calculation using weighted signal fusion. Validate the combined vision + speech pipeline through extensive testing.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Enhance the live interactive UI with additional analytics and visualizations. </a:t>
            </a:r>
          </a:p>
        </p:txBody>
      </p:sp>
    </p:spTree>
    <p:extLst>
      <p:ext uri="{BB962C8B-B14F-4D97-AF65-F5344CB8AC3E}">
        <p14:creationId xmlns:p14="http://schemas.microsoft.com/office/powerpoint/2010/main" val="1574664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and Summary</a:t>
            </a:r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4553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709160" y="4005072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C4790D-8BAB-C5E1-D462-A2959F734F45}"/>
              </a:ext>
            </a:extLst>
          </p:cNvPr>
          <p:cNvSpPr txBox="1"/>
          <p:nvPr/>
        </p:nvSpPr>
        <p:spPr>
          <a:xfrm>
            <a:off x="137160" y="641007"/>
            <a:ext cx="8936502" cy="47705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600" b="1" dirty="0"/>
              <a:t>Future Work: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Personalised AI tutors :The engagement signal becomes the feedback loop for an adaptive AI tutor — slow down when confusion is detected, accelerate when engagement is high, change teaching modality when fatigue sets 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Neuromorphic edge deployment : As event cameras and neuromorphic chips mature, the CV streams can migrate from a GPU to a sub-milliwatt edge chip — making this deployable on a cheap classroom tablet in rural India with no cloud dependency.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Teacher professional development : Session replay with engagement overlays lets teachers see exactly which moments of a lesson lost the class — turning engagement data into a personal coaching tool, not just a monitoring 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1600" b="1" dirty="0" err="1"/>
              <a:t>Sumary</a:t>
            </a: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Real-time multimodal AI system for classroom engagement monitoring. Uses only a webcam and microphone (no additional hardware). Simultaneously </a:t>
            </a:r>
            <a:r>
              <a:rPr lang="en-IN" sz="1600" dirty="0" err="1"/>
              <a:t>analyzes</a:t>
            </a:r>
            <a:r>
              <a:rPr lang="en-IN" sz="1600" dirty="0"/>
              <a:t> five </a:t>
            </a:r>
            <a:r>
              <a:rPr lang="en-IN" sz="1600" dirty="0" err="1"/>
              <a:t>behavioral</a:t>
            </a:r>
            <a:r>
              <a:rPr lang="en-IN" sz="1600" dirty="0"/>
              <a:t> signals: Facial Emotion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Head Pose ,Eye Movement &amp; Blink Rate ,Speech Transcription ,Speech Emotion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Custom Fusion Engine combines all signals into: Engagement Score (0–100) ,Distress Flag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Generative AI (Gemini) converts predictions into: Teacher Alerts and Student Nudges </a:t>
            </a:r>
          </a:p>
          <a:p>
            <a:br>
              <a:rPr lang="en-IN" sz="1600" dirty="0"/>
            </a:br>
            <a:endParaRPr lang="en-IN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2275</TotalTime>
  <Words>609</Words>
  <Application>Microsoft Office PowerPoint</Application>
  <PresentationFormat>On-screen Show (16:9)</PresentationFormat>
  <Paragraphs>70</Paragraphs>
  <Slides>7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Medical Waste System</dc:title>
  <dc:subject>PptxGenJS Presentation</dc:subject>
  <dc:creator>PptxGenJS</dc:creator>
  <cp:lastModifiedBy>Ayush Gupta</cp:lastModifiedBy>
  <cp:revision>40</cp:revision>
  <dcterms:created xsi:type="dcterms:W3CDTF">2026-03-07T09:29:29Z</dcterms:created>
  <dcterms:modified xsi:type="dcterms:W3CDTF">2026-07-07T14:39:48Z</dcterms:modified>
</cp:coreProperties>
</file>